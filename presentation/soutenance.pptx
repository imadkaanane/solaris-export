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Solaris Export — segmentation export</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Construire des groupes comparables et vérifier la robustesse de la sélection.</a:t>
            </a:r>
          </a:p>
          <a:p>
            <a:pPr>
              <a:spcAft>
                <a:spcPts val="1800"/>
              </a:spcAft>
              <a:defRPr sz="2000"/>
            </a:pPr>
            <a:r>
              <a:t>Analyse reproductible dans Jupyter ; présentation modifiable.</a:t>
            </a:r>
          </a:p>
          <a:p>
            <a:pPr>
              <a:spcAft>
                <a:spcPts val="1800"/>
              </a:spcAft>
              <a:defRPr sz="2000"/>
            </a:pPr>
            <a:r>
              <a:t>Données fictives : aucune mission réelle ni effet causal démontré.</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Question et méthode</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Construire des groupes comparables et vérifier la robustesse de la sélection.</a:t>
            </a:r>
          </a:p>
          <a:p>
            <a:pPr>
              <a:spcAft>
                <a:spcPts val="1800"/>
              </a:spcAft>
              <a:defRPr sz="2000"/>
            </a:pPr>
            <a:r>
              <a:t>Contrôler les clés, les doublons et les valeurs invalides avant les agrégations.</a:t>
            </a:r>
          </a:p>
          <a:p>
            <a:pPr>
              <a:spcAft>
                <a:spcPts val="1800"/>
              </a:spcAft>
              <a:defRPr sz="2000"/>
            </a:pPr>
            <a:r>
              <a:t>Lire les unités et les hypothèses du notebook avant de comparer les résultats.</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Qualité des données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{'table': 'marches', 'brut': 2910, 'doublons': 30, 'rejets': 12, 'propre': 2868}</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Indicateurs recalculés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pays : 239</a:t>
            </a:r>
          </a:p>
          <a:p>
            <a:pPr>
              <a:spcAft>
                <a:spcPts val="1800"/>
              </a:spcAft>
              <a:defRPr sz="2000"/>
            </a:pPr>
            <a:r>
              <a:t>k retenu : 2</a:t>
            </a:r>
          </a:p>
          <a:p>
            <a:pPr>
              <a:spcAft>
                <a:spcPts val="1800"/>
              </a:spcAft>
              <a:defRPr sz="2000"/>
            </a:pPr>
            <a:r>
              <a:t>silhouette : 0.4812</a:t>
            </a:r>
          </a:p>
          <a:p>
            <a:pPr>
              <a:spcAft>
                <a:spcPts val="1800"/>
              </a:spcAft>
              <a:defRPr sz="2000"/>
            </a:pPr>
            <a:r>
              <a:t>variance pc1 pc2 : 0.9118</a:t>
            </a:r>
          </a:p>
          <a:p>
            <a:pPr>
              <a:spcAft>
                <a:spcPts val="1800"/>
              </a:spcAft>
              <a:defRPr sz="2000"/>
            </a:pPr>
            <a:r>
              <a:t>ari ward kmeans : 0.9667</a:t>
            </a:r>
          </a:p>
          <a:p>
            <a:pPr>
              <a:spcAft>
                <a:spcPts val="1800"/>
              </a:spcAft>
              <a:defRPr sz="2000"/>
            </a:pPr>
            <a:r>
              <a:t>ari stabilite median : 0.9833</a:t>
            </a:r>
          </a:p>
          <a:p>
            <a:pPr>
              <a:spcAft>
                <a:spcPts val="1800"/>
              </a:spcAft>
              <a:defRPr sz="2000"/>
            </a:pPr>
            <a:r>
              <a:t>ari sans imports : 0.9502</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Résultats à retenir</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K retenu entre 2 et 8 par silhouette : 2 ; comparaison Ward, ARI 0.967.</a:t>
            </a:r>
          </a:p>
          <a:p>
            <a:pPr>
              <a:spcAft>
                <a:spcPts val="1800"/>
              </a:spcAft>
              <a:defRPr sz="2000"/>
            </a:pPr>
            <a:r>
              <a:t>ACP : 91.2 % de variance sur deux axes ; 30 sous-échantillonnages.</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Acp clusters</a:t>
            </a:r>
          </a:p>
        </p:txBody>
      </p:sp>
      <p:sp>
        <p:nvSpPr>
          <p:cNvPr id="3" name="TextBox 2"/>
          <p:cNvSpPr txBox="1"/>
          <p:nvPr/>
        </p:nvSpPr>
        <p:spPr>
          <a:xfrm>
            <a:off x="640080" y="1371600"/>
            <a:ext cx="10881360" cy="4754880"/>
          </a:xfrm>
          <a:prstGeom prst="rect">
            <a:avLst/>
          </a:prstGeom>
          <a:noFill/>
        </p:spPr>
        <p:txBody>
          <a:bodyPr wrap="square">
            <a:spAutoFit/>
          </a:bodyPr>
          <a:lstStyle/>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6</a:t>
            </a:r>
          </a:p>
        </p:txBody>
      </p:sp>
      <p:pic>
        <p:nvPicPr>
          <p:cNvPr id="5" name="Picture 4" descr="acp_clusters.png"/>
          <p:cNvPicPr>
            <a:picLocks noChangeAspect="1"/>
          </p:cNvPicPr>
          <p:nvPr/>
        </p:nvPicPr>
        <p:blipFill>
          <a:blip r:embed="rId2"/>
          <a:stretch>
            <a:fillRect/>
          </a:stretch>
        </p:blipFill>
        <p:spPr>
          <a:xfrm>
            <a:off x="914400" y="1325880"/>
            <a:ext cx="10332720" cy="48920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Choix k</a:t>
            </a:r>
          </a:p>
        </p:txBody>
      </p:sp>
      <p:sp>
        <p:nvSpPr>
          <p:cNvPr id="3" name="TextBox 2"/>
          <p:cNvSpPr txBox="1"/>
          <p:nvPr/>
        </p:nvSpPr>
        <p:spPr>
          <a:xfrm>
            <a:off x="640080" y="1371600"/>
            <a:ext cx="10881360" cy="4754880"/>
          </a:xfrm>
          <a:prstGeom prst="rect">
            <a:avLst/>
          </a:prstGeom>
          <a:noFill/>
        </p:spPr>
        <p:txBody>
          <a:bodyPr wrap="square">
            <a:spAutoFit/>
          </a:bodyPr>
          <a:lstStyle/>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7</a:t>
            </a:r>
          </a:p>
        </p:txBody>
      </p:sp>
      <p:pic>
        <p:nvPicPr>
          <p:cNvPr id="5" name="Picture 4" descr="choix_k.png"/>
          <p:cNvPicPr>
            <a:picLocks noChangeAspect="1"/>
          </p:cNvPicPr>
          <p:nvPr/>
        </p:nvPicPr>
        <p:blipFill>
          <a:blip r:embed="rId2"/>
          <a:stretch>
            <a:fillRect/>
          </a:stretch>
        </p:blipFill>
        <p:spPr>
          <a:xfrm>
            <a:off x="914400" y="1325880"/>
            <a:ext cx="10332720" cy="48920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Stabilite</a:t>
            </a:r>
          </a:p>
        </p:txBody>
      </p:sp>
      <p:sp>
        <p:nvSpPr>
          <p:cNvPr id="3" name="TextBox 2"/>
          <p:cNvSpPr txBox="1"/>
          <p:nvPr/>
        </p:nvSpPr>
        <p:spPr>
          <a:xfrm>
            <a:off x="640080" y="1371600"/>
            <a:ext cx="10881360" cy="4754880"/>
          </a:xfrm>
          <a:prstGeom prst="rect">
            <a:avLst/>
          </a:prstGeom>
          <a:noFill/>
        </p:spPr>
        <p:txBody>
          <a:bodyPr wrap="square">
            <a:spAutoFit/>
          </a:bodyPr>
          <a:lstStyle/>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8</a:t>
            </a:r>
          </a:p>
        </p:txBody>
      </p:sp>
      <p:pic>
        <p:nvPicPr>
          <p:cNvPr id="5" name="Picture 4" descr="stabilite.png"/>
          <p:cNvPicPr>
            <a:picLocks noChangeAspect="1"/>
          </p:cNvPicPr>
          <p:nvPr/>
        </p:nvPicPr>
        <p:blipFill>
          <a:blip r:embed="rId2"/>
          <a:stretch>
            <a:fillRect/>
          </a:stretch>
        </p:blipFill>
        <p:spPr>
          <a:xfrm>
            <a:off x="914400" y="1325880"/>
            <a:ext cx="10332720" cy="48920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4. Construire des marchés comparables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L’unité de comparaison est le marché, et non chaque observation annuelle. La moyenne 2022–2024 réduit le bruit annuel mais masque une partie des ruptures récentes. Les années antérieures restent dans les données sources pour permettre des approfondissements.</a:t>
            </a:r>
          </a:p>
          <a:p>
            <a:pPr>
              <a:spcAft>
                <a:spcPts val="1800"/>
              </a:spcAft>
              <a:defRPr sz="2000"/>
            </a:pPr>
            <a:r>
              <a:t>Le PIB et les importations sont transformés par log(1+x), puis les valeurs absentes sont imputées par médiane et les cinq variables standardisées. Sans standardisation, les volumes importés domineraient les distances. Ces opérations sont ajustées sur le panel exploratoire complet : aucun score prédictif hors échantillon n’est revendiqué.</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5. Choisir le nombre de groupes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Sept partitions, de deux à huit groupes, sont comparées. Le maximum de silhouette est 0.481 pour k=2. Ce critère arbitre compacité et séparation ; il ne garantit pas une segmentation commerciale optimale.</a:t>
            </a:r>
          </a:p>
          <a:p>
            <a:pPr>
              <a:spcAft>
                <a:spcPts val="1800"/>
              </a:spcAft>
              <a:defRPr sz="2000"/>
            </a:pPr>
            <a:r>
              <a:t>L’inertie baisse mécaniquement lorsque k augmente. Elle doit être lue avec la silhouette, les tailles de groupes et l’utilité métier. Les numéros de groupes sont des étiquettes arbitraires ; un groupe 1 n’est pas meilleur qu’un groupe 0.</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6. Interpréter la projection ACP</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La projection sur deux axes conserve 91.2% de la variance standardisée. La part restante impose de vérifier les distances dans les cinq dimensions avant d’interpréter deux points voisins sur le graphique.</a:t>
            </a:r>
          </a:p>
          <a:p>
            <a:pPr>
              <a:spcAft>
                <a:spcPts val="1800"/>
              </a:spcAft>
              <a:defRPr sz="2000"/>
            </a:pPr>
            <a:r>
              <a:t>Les coefficients présentés sont les composantes de l’ACP, et non directement des corrélations variable-axe. Leur signe peut s’inverser sans modifier la projection. Les profils en unités originales servent à donner un sens métier aux groupes.</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7. Tester la robustesse</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La classification hiérarchique de Ward et K-means obtiennent un indice de Rand ajusté de 0.967. La médiane de 30 répétitions sur 80 % des marchés atteint 0.983, avec un minimum de 0.934 et un maximum de 1.000.</a:t>
            </a:r>
          </a:p>
          <a:p>
            <a:pPr>
              <a:spcAft>
                <a:spcPts val="1800"/>
              </a:spcAft>
              <a:defRPr sz="2000"/>
            </a:pPr>
            <a:r>
              <a:t>Après retrait des importations, l’accord vaut 0.950. Cette sensibilité renseigne sur le poids du volume dans la segmentation. La stabilité est conditionnelle au prétraitement global fixé ; elle ne couvre pas l’incertitude liée aux sources ou aux hypothèses de génération.</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8. Transformer la segmentation en investigation commerciale</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Le score de présélection combine 45 % de rang de PIB par habitant, 35 % de rang d’équipement et 20 % de rang inversé de risque logistique. Ces pondérations sont des préférences explicites, pas des coefficients appris. Elles favorisent les marchés déjà équipés et doivent être contestées si l’entreprise recherche plutôt des marchés émergents.</a:t>
            </a:r>
          </a:p>
          <a:p>
            <a:pPr>
              <a:spcAft>
                <a:spcPts val="1800"/>
              </a:spcAft>
              <a:defRPr sz="2000"/>
            </a:pPr>
            <a:r>
              <a:t>Les 25 premiers marchés forment un panel de vérification. Aucun chiffre d’affaires potentiel n’est estimé : prix, concurrents, droits de douane, certifications et réseau de distribution sont absents. Le regroupement aide à différencier les questions à poser, sans remplacer cette enquête.</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Actions proposées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Croiser groupes statistiques, contraintes douanières et capacité export.</a:t>
            </a:r>
          </a:p>
          <a:p>
            <a:pPr>
              <a:spcAft>
                <a:spcPts val="1800"/>
              </a:spcAft>
              <a:defRPr sz="2000"/>
            </a:pPr>
            <a:r>
              <a:t>Examiner les changements de groupe après retrait de la variable de volume.</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Limites et prochaines étapes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Territoires fictifs, groupes latents programmés ; pas de validation d’opportunité réelle.</a:t>
            </a:r>
          </a:p>
          <a:p>
            <a:pPr>
              <a:spcAft>
                <a:spcPts val="1800"/>
              </a:spcAft>
              <a:defRPr sz="2000"/>
            </a:pPr>
            <a:r>
              <a:t>Clustering exploratoire sans vérité terrain ; numéros de clusters sans ordre.</a:t>
            </a:r>
          </a:p>
          <a:p>
            <a:pPr>
              <a:spcAft>
                <a:spcPts val="1800"/>
              </a:spcAft>
              <a:defRPr sz="2000"/>
            </a:pPr>
            <a:r>
              <a:t>Stabilité conditionnelle au prétraitement global fixé, pas toute l’incertitude.</a:t>
            </a:r>
          </a:p>
          <a:p>
            <a:pPr>
              <a:spcAft>
                <a:spcPts val="1800"/>
              </a:spcAft>
              <a:defRPr sz="2000"/>
            </a:pPr>
            <a:r>
              <a:t>Adapter les hypothèses et valider sur des données réelles avant toute décision.</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Solaris-Export</dc:title>
  <dc:subject>Analyse de données — projet personnel sur données synthétiques</dc:subject>
  <dc:creator>Imad Kaanane</dc:creator>
  <cp:keywords/>
  <dc:description>generated using python-pptx</dc:description>
  <cp:lastModifiedBy>Imad Kaanane</cp:lastModifiedBy>
  <cp:revision>1</cp:revision>
  <dcterms:created xsi:type="dcterms:W3CDTF">2013-01-27T09:14:16Z</dcterms:created>
  <dcterms:modified xsi:type="dcterms:W3CDTF">2013-01-27T09:15:58Z</dcterms:modified>
  <cp:category/>
</cp:coreProperties>
</file>